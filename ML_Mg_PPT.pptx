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842" r:id="rId4"/>
    <p:sldId id="262" r:id="rId5"/>
    <p:sldId id="845" r:id="rId6"/>
    <p:sldId id="854" r:id="rId7"/>
    <p:sldId id="846" r:id="rId8"/>
    <p:sldId id="847" r:id="rId9"/>
    <p:sldId id="848" r:id="rId10"/>
    <p:sldId id="849" r:id="rId11"/>
    <p:sldId id="850" r:id="rId12"/>
    <p:sldId id="852" r:id="rId13"/>
    <p:sldId id="856" r:id="rId14"/>
    <p:sldId id="851" r:id="rId15"/>
    <p:sldId id="85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4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450"/>
    <a:srgbClr val="942093"/>
    <a:srgbClr val="005493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82061"/>
  </p:normalViewPr>
  <p:slideViewPr>
    <p:cSldViewPr snapToGrid="0" showGuides="1">
      <p:cViewPr varScale="1">
        <p:scale>
          <a:sx n="91" d="100"/>
          <a:sy n="91" d="100"/>
        </p:scale>
        <p:origin x="1326" y="60"/>
      </p:cViewPr>
      <p:guideLst>
        <p:guide orient="horz" pos="2228"/>
        <p:guide pos="34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F4DF4-0195-D44C-96C4-BD862AF360A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98406-194B-D342-8609-3215B06A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8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08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56994-5A95-4E39-A2E5-5D2EEF53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3A6BD-2C2C-8670-2CEC-19EED28FA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A3DE8-8479-E9C8-B666-2F129A0D3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3DE85-1EE3-51FC-3BC0-E84511088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46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7472-83E9-8556-1746-D963448A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A3AD1-A029-158E-2FB7-16568EA2B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93DA1-6D51-E8F5-394C-07EDDB5E7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49C6E-4C60-07F0-9594-6FC222063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62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0E59-0CF0-C238-B95F-7C9510CA1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13C13-186D-5A68-882E-2AF010DF7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A74FB-8915-3A28-3CD3-61DF7B414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7BACA-3B01-A9D2-52D3-CA3224509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77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A4DE-CC4A-E240-7335-90505A9F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61D59-510D-1448-7D44-7A8B23DE1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ED4CD-219F-2781-B1BF-21CD1C4F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F341-F470-04C9-0F96-2BC985588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50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1526E-A5A3-885A-6DEB-91690909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F89191-8D97-6D8B-0BE2-93FF93D62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64CA7-B5DD-F529-5B5A-4C589BB16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2397-DC9C-0733-9DCE-90615F977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24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18E1-5AED-839E-CA49-5A85BF49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ACCD3-473F-8C10-306E-6D32BB1411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61264-310A-5356-0D63-E1DF22027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3CDDE-EE01-B48B-799E-9D31978A5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2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A96C-98B4-BE1F-1DD4-41137021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D4066-BD63-5E07-48BF-87CCFE445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E47FA-1E76-0A4B-D703-AB890C2C6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2275-4294-A719-7B1A-215417FAE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49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6B00-2303-B61B-D22D-1A785AB78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C262-6AAD-37D6-9EE4-D48B37098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570EA-AC68-9CA6-FDE5-6C6A403EC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D609E-3656-1BCA-C06F-7652365A0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36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5673-6334-69BD-26E3-70959651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6A432-D423-F7D0-CEA2-EE82BC09B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71D20-E07F-25F2-00EF-912853C7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989BC-63D1-607D-10BE-35E4EFC0A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1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7135-43EF-4172-4F46-FA945FBE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10AF5-1263-EA42-4123-F137161BE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7D0C1-F17F-DE08-BD17-6B1C5C805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Why you studying this materials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B229A-CF32-A86F-D89F-3A31FED22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98406-194B-D342-8609-3215B06AB2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82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D553-A08D-239C-F6CF-779FF0223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A6A0F1-6DA9-8550-3FB5-E990A1AF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96A0-C393-8740-E5CB-D7219FF1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190BE-3770-7749-B933-E635DFD518FC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F4898-A4E5-9CA3-D3CF-04E5C6C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00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B0789-2CD7-9769-A32C-986455FF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72D54-86CF-520B-384D-ADB5A90E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D0C61-2A02-B5E0-383A-F7119560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6809D-0EEB-1749-A0D6-8C7CA51030DC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13BC-2392-0C2B-E693-1EF23E95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14B667-1CB1-E388-C633-AE6E468989D8}"/>
              </a:ext>
            </a:extLst>
          </p:cNvPr>
          <p:cNvSpPr/>
          <p:nvPr userDrawn="1"/>
        </p:nvSpPr>
        <p:spPr>
          <a:xfrm>
            <a:off x="11710866" y="6388100"/>
            <a:ext cx="422030" cy="417634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9A444D6-8A72-1B8B-CFC8-9288311D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4000" y="6407150"/>
            <a:ext cx="480646" cy="365125"/>
          </a:xfr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59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F33F-C533-9886-E1BD-710A07A74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3A1C4-6EAE-835D-E5F8-B5CA2111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5EDC8-D060-3E1B-2E27-57C3A26B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1A18-DB2E-4340-A8A3-F43A40F63AFA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C885-DBC8-E5E1-0BAE-607FC15A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8C5F-E7D0-B419-B0EE-12FE768D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7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FF21E1F-A378-5F33-3454-0E9CD00CA721}"/>
              </a:ext>
            </a:extLst>
          </p:cNvPr>
          <p:cNvSpPr/>
          <p:nvPr userDrawn="1"/>
        </p:nvSpPr>
        <p:spPr>
          <a:xfrm>
            <a:off x="11668123" y="6405562"/>
            <a:ext cx="371475" cy="365125"/>
          </a:xfrm>
          <a:prstGeom prst="ellipse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2424E-1E11-BCBD-C4A0-D303635B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C2A4-7C0E-8F94-78CD-FAB6F59194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45461-BDD8-7036-FC1D-D409C5BCF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1D378-1C41-5F1C-C630-652A4033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A4AD-5BD9-1A41-9BCD-06FEC1A78D4A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A0D63-D147-ABCC-456F-697CDB006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C0700-B49E-E041-6A6B-B9B11311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724" y="6405562"/>
            <a:ext cx="676275" cy="365125"/>
          </a:xfrm>
        </p:spPr>
        <p:txBody>
          <a:bodyPr/>
          <a:lstStyle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fld id="{424766C8-FE37-C242-AED9-A550D3C7D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5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6509-6727-E68E-38DD-6332D4E5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11EC-4AEF-95BF-6091-5D794B38D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D9CF0-A20C-CD00-8419-7D70147FD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BC47B-63E3-F845-87F8-B8DC9536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F0CFC-F846-DB90-AA4F-CA700282A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C1C30-458A-930E-9F55-CF1768BE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A687-F0E8-4848-A600-D891EA72462B}" type="datetime1">
              <a:rPr lang="en-IN" smtClean="0"/>
              <a:t>18-11-2025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ADA5D-7AF2-9C43-051D-123D2599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E505F-927D-7539-9EB3-0078700E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1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5E4C-72BB-FAEA-C974-DC89E481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7D945-5F81-F8CE-0CD0-721973A8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D0A0F-1063-9547-BEEB-6D9DEF241FA2}" type="datetime1">
              <a:rPr lang="en-IN" smtClean="0"/>
              <a:t>18-11-2025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96052-57B9-08F2-4BFD-EF0FDC26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2A455-2F7E-F59B-46E3-0DDEF3F5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799E8-7CAD-F5CC-AF2F-151A6BF8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9126-2844-2B4D-8BE8-C2D3B87CE1FF}" type="datetime1">
              <a:rPr lang="en-IN" smtClean="0"/>
              <a:t>18-11-2025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FEDD1-1B56-A48C-4F45-17BB06DB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911CD-C636-AFAD-9D8B-15169F66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78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8452-3A6D-CFA4-323D-2DD77500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AEBE-0E75-EC2D-6E2C-720009140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B4E37-ADD6-94BE-AD3A-E2410D82E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C3B83-DADD-6C6E-8F9F-1B8365F7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4E208-90B2-D44B-9C9F-BD7B1BE91AA7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24BFF-D791-4A59-1259-7031CC94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2F6E9-E9CE-F0CD-7B29-4E3269FCA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6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1842-C215-EC97-13ED-FC4BC0958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8ECAD-DFB8-9A1F-6DE6-28C8FDC6E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8ABEA-784D-951F-C96F-E451727D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A32C6-F1F0-C646-A0FD-6DA1593D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12664-DB3F-9245-BAB2-8275C04C3794}" type="datetime1">
              <a:rPr lang="en-IN" smtClean="0"/>
              <a:t>18-11-2025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21F0C-971B-4C80-2DDF-7679C1E5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2681A-DF64-991B-1339-EB5E5E95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7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95A68-159A-7EF8-AB75-14B86C12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FF023-FCC7-B816-65B7-6F1AF23D9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FD8E-AC60-0DF4-4AFF-0A4170C3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01BA3-39C9-E645-97E5-D8540B7264E3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9F4C-E476-6201-700A-44BF43FDA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7BFE-3D14-AB25-890D-76E2124D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8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2DF85-52CA-C7CE-4D7F-F81A61DCD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B2EE2-CE7D-616D-CD28-2FCC0F746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F4FFC-818A-56BF-C455-137ADF16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B4B17-415B-274D-A45B-51F223E841D3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6BB38-12AF-1F1B-1928-2BC5BEFD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E0DB3-42FD-59C9-17B7-0B4BA9FF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0AB89-CF52-7ED0-18E6-D0D131CC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A2B1-77F5-1580-BD33-857BFBC6E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BB710-EA2A-8F49-F5E7-9BB839C36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D9E38-8790-1C40-85CE-B1CAF3FEEF50}" type="datetime1">
              <a:rPr lang="en-IN" smtClean="0"/>
              <a:t>18-11-2025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6B4D-FE1F-C714-0E2A-D0F57FBAC4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76D3-6DA4-72A1-64FD-1F8A4EEA0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766C8-FE37-C242-AED9-A550D3C7D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2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AAC755-3D7B-5342-3168-17D7CE206E44}"/>
              </a:ext>
            </a:extLst>
          </p:cNvPr>
          <p:cNvSpPr/>
          <p:nvPr/>
        </p:nvSpPr>
        <p:spPr>
          <a:xfrm>
            <a:off x="0" y="-1"/>
            <a:ext cx="12192000" cy="1845303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lang="en-US" sz="4000" dirty="0"/>
              <a:t>Title: Machine Learning Prediction of Potential Energy in Magnesium (Mg)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nitw brand logo">
            <a:extLst>
              <a:ext uri="{FF2B5EF4-FFF2-40B4-BE49-F238E27FC236}">
                <a16:creationId xmlns:a16="http://schemas.microsoft.com/office/drawing/2014/main" id="{CEC36317-27FE-3C2B-E5C7-0C35D0FF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75" y="4799652"/>
            <a:ext cx="66770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4C51F-BFA1-715A-4951-D4A3A1539224}"/>
              </a:ext>
            </a:extLst>
          </p:cNvPr>
          <p:cNvSpPr txBox="1"/>
          <p:nvPr/>
        </p:nvSpPr>
        <p:spPr>
          <a:xfrm>
            <a:off x="2440280" y="2326505"/>
            <a:ext cx="69456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 err="1"/>
              <a:t>N.Sujan</a:t>
            </a:r>
            <a:r>
              <a:rPr lang="en-IN" sz="2400" b="1" dirty="0"/>
              <a:t> Kumar</a:t>
            </a:r>
          </a:p>
          <a:p>
            <a:pPr algn="ctr"/>
            <a:r>
              <a:rPr lang="en-IN" sz="2400" b="1" dirty="0" err="1"/>
              <a:t>B.Vivek</a:t>
            </a:r>
            <a:r>
              <a:rPr lang="en-IN" sz="2400" b="1" dirty="0"/>
              <a:t> Vardhan</a:t>
            </a:r>
          </a:p>
          <a:p>
            <a:pPr algn="ctr"/>
            <a:r>
              <a:rPr lang="en-IN" sz="2400" b="1" dirty="0" err="1"/>
              <a:t>Ch.Sashreek</a:t>
            </a:r>
            <a:endParaRPr lang="en-IN" sz="2400" b="1" dirty="0"/>
          </a:p>
          <a:p>
            <a:pPr algn="ctr"/>
            <a:endParaRPr lang="en-IN" sz="2400" b="1" dirty="0"/>
          </a:p>
          <a:p>
            <a:pPr algn="ctr"/>
            <a:r>
              <a:rPr lang="en-IN" sz="2400" b="1" u="sng" dirty="0"/>
              <a:t>Department  of Electrical and Electronics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7370F-E6EC-A570-22A9-1F85DF285DE8}"/>
              </a:ext>
            </a:extLst>
          </p:cNvPr>
          <p:cNvSpPr txBox="1"/>
          <p:nvPr/>
        </p:nvSpPr>
        <p:spPr>
          <a:xfrm>
            <a:off x="1983898" y="5983141"/>
            <a:ext cx="7858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691450"/>
                </a:solidFill>
              </a:rPr>
              <a:t>Machine Learning for materials informatics  (MLMI)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3697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D26106-E703-E0E5-B77D-4BACD4ECD0A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CECF94C6-4AF3-2D23-26BC-CFAF2C26FD1A}"/>
              </a:ext>
            </a:extLst>
          </p:cNvPr>
          <p:cNvSpPr/>
          <p:nvPr/>
        </p:nvSpPr>
        <p:spPr>
          <a:xfrm>
            <a:off x="126640" y="164819"/>
            <a:ext cx="7046766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36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Magnesium (Mg)</a:t>
            </a:r>
            <a:r>
              <a:rPr lang="en-US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r>
              <a:rPr lang="en-US" altLang="en-US" sz="3600" b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360DAC-EED4-ED5D-B161-8FC19CEA4D94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60356-DA16-08AF-2067-4387386D9DC0}"/>
              </a:ext>
            </a:extLst>
          </p:cNvPr>
          <p:cNvSpPr txBox="1"/>
          <p:nvPr/>
        </p:nvSpPr>
        <p:spPr>
          <a:xfrm>
            <a:off x="221234" y="915420"/>
            <a:ext cx="2501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Basic Information: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DA95E-460E-4D64-BB65-6D1DD77BF558}"/>
              </a:ext>
            </a:extLst>
          </p:cNvPr>
          <p:cNvSpPr txBox="1"/>
          <p:nvPr/>
        </p:nvSpPr>
        <p:spPr>
          <a:xfrm>
            <a:off x="221234" y="1461200"/>
            <a:ext cx="86500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Symbol: Mg  Atomic Number: 12  Crystal Structure: Hexagonal Close-Packed (HCP)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Lightweight Metal: One of the lightest structural metals, with a density of only 1.74 g/cm³.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It's found in the earth’s crust as MgCO3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D6B3E1-250E-4AA2-A970-6E34C2EDCE2A}"/>
              </a:ext>
            </a:extLst>
          </p:cNvPr>
          <p:cNvSpPr txBox="1"/>
          <p:nvPr/>
        </p:nvSpPr>
        <p:spPr>
          <a:xfrm>
            <a:off x="221234" y="3707910"/>
            <a:ext cx="885970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Physical and Mechanical Properties: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Good castability and machinability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Moderate strength and stiffness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 damping capacity (vibration absorption)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Poor corrosion resistance (improving through alloying and coating)</a:t>
            </a:r>
            <a:endParaRPr lang="en-IN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B72E22-ED20-2BC3-9AAF-0604BCD3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461" y="2407043"/>
            <a:ext cx="6390290" cy="28585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4BF7E2-DDFC-A68B-463A-3BC99623EF19}"/>
              </a:ext>
            </a:extLst>
          </p:cNvPr>
          <p:cNvSpPr txBox="1"/>
          <p:nvPr/>
        </p:nvSpPr>
        <p:spPr>
          <a:xfrm>
            <a:off x="9601200" y="4961560"/>
            <a:ext cx="2369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92D050"/>
                </a:solidFill>
              </a:rPr>
              <a:t>Green</a:t>
            </a:r>
            <a:r>
              <a:rPr lang="en-IN" sz="2000" dirty="0"/>
              <a:t>-Magnesium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Red</a:t>
            </a:r>
            <a:r>
              <a:rPr lang="en-IN" sz="2000" dirty="0"/>
              <a:t>-Oxygen</a:t>
            </a:r>
          </a:p>
          <a:p>
            <a:r>
              <a:rPr lang="en-IN" sz="2000" b="1" dirty="0">
                <a:solidFill>
                  <a:schemeClr val="bg1">
                    <a:lumMod val="50000"/>
                  </a:schemeClr>
                </a:solidFill>
              </a:rPr>
              <a:t>Grey</a:t>
            </a:r>
            <a:r>
              <a:rPr lang="en-IN" sz="2000" dirty="0"/>
              <a:t>-Carbon</a:t>
            </a:r>
          </a:p>
        </p:txBody>
      </p:sp>
    </p:spTree>
    <p:extLst>
      <p:ext uri="{BB962C8B-B14F-4D97-AF65-F5344CB8AC3E}">
        <p14:creationId xmlns:p14="http://schemas.microsoft.com/office/powerpoint/2010/main" val="100929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2BD6-666B-5C58-B35D-F500EE09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457B641-2B2C-8D94-4837-0464826F1D5A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E63A825-95C6-9CFE-7D1B-E5B2553DF44F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8">
            <a:extLst>
              <a:ext uri="{FF2B5EF4-FFF2-40B4-BE49-F238E27FC236}">
                <a16:creationId xmlns:a16="http://schemas.microsoft.com/office/drawing/2014/main" id="{8577DA5F-5AA4-6BD2-1370-C34EB4CDEA1A}"/>
              </a:ext>
            </a:extLst>
          </p:cNvPr>
          <p:cNvSpPr/>
          <p:nvPr/>
        </p:nvSpPr>
        <p:spPr>
          <a:xfrm>
            <a:off x="126640" y="164819"/>
            <a:ext cx="7046766" cy="923330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36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Magnesium (Mg) Applications</a:t>
            </a:r>
            <a:r>
              <a:rPr lang="en-US" altLang="en-US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r>
              <a:rPr lang="en-US" altLang="en-US" sz="3600" b="1" dirty="0">
                <a:solidFill>
                  <a:schemeClr val="bg1"/>
                </a:solidFill>
                <a:cs typeface="Times New Roman" panose="02020603050405020304" pitchFamily="18" charset="0"/>
              </a:rPr>
              <a:t>)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8C790500-2EA7-4B09-59F9-3ED5F4188446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A0D9F-927D-B245-F899-511B770B4429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1D5EC1-5F78-134C-1410-1160A4D6ADC1}"/>
              </a:ext>
            </a:extLst>
          </p:cNvPr>
          <p:cNvSpPr txBox="1"/>
          <p:nvPr/>
        </p:nvSpPr>
        <p:spPr>
          <a:xfrm>
            <a:off x="42041" y="966787"/>
            <a:ext cx="754591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Automotive and Aerospace Industries: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in automobile parts (engine blocks, transmission cases, steering wheels, etc.) to reduce vehicle weight and improve fuel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Aerospace components for lightweight structures without compromising performance.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Electronics and Consumer Products: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in laptop casings, cameras, smartphones, and portable tools due to lightness and strength.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Energy and Environmental Fields: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Hydrogen storage materials (As MgH2)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Battery anodes for Mg-ion batteries — a potential alternative to Li-ion.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B0B53-8B64-7901-BAC8-ED853D26D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46" y="1085170"/>
            <a:ext cx="4891954" cy="480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8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8EA4BE-DC54-CDC6-F7D5-8FCB083CB5D9}"/>
              </a:ext>
            </a:extLst>
          </p:cNvPr>
          <p:cNvSpPr txBox="1"/>
          <p:nvPr/>
        </p:nvSpPr>
        <p:spPr>
          <a:xfrm>
            <a:off x="1" y="110287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Machine Learning(ML) Models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16DDD402-59C9-A163-52AC-E0E33896BDC2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D10B99-BFD9-91CA-3491-90CEF85DB82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A146D61-1579-4996-693D-75AE65A12610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010F5-40F0-CF39-A854-11FB90EF3667}"/>
              </a:ext>
            </a:extLst>
          </p:cNvPr>
          <p:cNvSpPr txBox="1"/>
          <p:nvPr/>
        </p:nvSpPr>
        <p:spPr>
          <a:xfrm>
            <a:off x="130442" y="803950"/>
            <a:ext cx="5633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Linear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Establishes a straight-line relationship between input features and the target variable..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Assumes </a:t>
            </a:r>
            <a:r>
              <a:rPr lang="en-US" sz="2000" b="1" dirty="0"/>
              <a:t>linear relation</a:t>
            </a:r>
            <a:r>
              <a:rPr lang="en-US" sz="2000" dirty="0"/>
              <a:t> between inputs &amp;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Sensitive to outliers and multicollinearity, which can reduce prediction accuracy.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E38BB-D232-2D4F-C06D-7357CF391FE3}"/>
                  </a:ext>
                </a:extLst>
              </p:cNvPr>
              <p:cNvSpPr txBox="1"/>
              <p:nvPr/>
            </p:nvSpPr>
            <p:spPr>
              <a:xfrm>
                <a:off x="397994" y="3289199"/>
                <a:ext cx="2843214" cy="1217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400" b="1" dirty="0">
                    <a:solidFill>
                      <a:schemeClr val="accent1">
                        <a:lumMod val="50000"/>
                      </a:schemeClr>
                    </a:solidFill>
                  </a:rPr>
                  <a:t>Mean Squared Error:</a:t>
                </a:r>
                <a:endParaRPr lang="el-GR" sz="2400" b="1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I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E38BB-D232-2D4F-C06D-7357CF391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94" y="3289199"/>
                <a:ext cx="2843214" cy="1217898"/>
              </a:xfrm>
              <a:prstGeom prst="rect">
                <a:avLst/>
              </a:prstGeom>
              <a:blipFill>
                <a:blip r:embed="rId2"/>
                <a:stretch>
                  <a:fillRect l="-2784" t="-4020" r="-2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D11E39D-0197-174A-8515-26D4C75B3491}"/>
              </a:ext>
            </a:extLst>
          </p:cNvPr>
          <p:cNvSpPr txBox="1"/>
          <p:nvPr/>
        </p:nvSpPr>
        <p:spPr>
          <a:xfrm>
            <a:off x="6946824" y="739066"/>
            <a:ext cx="511473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Ridge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Linear + regularization to reduce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regularized version of linear regression that adds a penalty to large coefficients.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Performs better than linear regression when features are correlated or noisy.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249C90-6E72-AFB1-8E27-247FEDEF717E}"/>
                  </a:ext>
                </a:extLst>
              </p:cNvPr>
              <p:cNvSpPr txBox="1"/>
              <p:nvPr/>
            </p:nvSpPr>
            <p:spPr>
              <a:xfrm>
                <a:off x="7737265" y="5103271"/>
                <a:ext cx="4324293" cy="140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/>
                  <a:t>y: target/output    </a:t>
                </a:r>
                <a:r>
                  <a:rPr lang="el-GR" sz="2000" dirty="0"/>
                  <a:t>β: </a:t>
                </a:r>
                <a:r>
                  <a:rPr lang="en-IN" sz="2000" dirty="0"/>
                  <a:t>model coefficients</a:t>
                </a:r>
              </a:p>
              <a:p>
                <a:r>
                  <a:rPr lang="en-IN" sz="2000" dirty="0"/>
                  <a:t>X: input features   </a:t>
                </a:r>
                <a:r>
                  <a:rPr lang="el-GR" sz="2000" dirty="0"/>
                  <a:t>ε: </a:t>
                </a:r>
                <a:r>
                  <a:rPr lang="en-IN" sz="2000" dirty="0"/>
                  <a:t>error term</a:t>
                </a:r>
              </a:p>
              <a:p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IN" sz="2000" dirty="0"/>
                  <a:t>: Regularization Parameter</a:t>
                </a:r>
                <a:br>
                  <a:rPr lang="en-IN" sz="20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</m:sSubSup>
                  </m:oMath>
                </a14:m>
                <a:r>
                  <a:rPr lang="en-IN" sz="2000" dirty="0"/>
                  <a:t>:Coefficients of the model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249C90-6E72-AFB1-8E27-247FEDEF7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265" y="5103271"/>
                <a:ext cx="4324293" cy="1402179"/>
              </a:xfrm>
              <a:prstGeom prst="rect">
                <a:avLst/>
              </a:prstGeom>
              <a:blipFill>
                <a:blip r:embed="rId3"/>
                <a:stretch>
                  <a:fillRect l="-1408" t="-2174" b="-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D677EC-5402-6DBB-1EF2-6FE4C23EC518}"/>
                  </a:ext>
                </a:extLst>
              </p:cNvPr>
              <p:cNvSpPr txBox="1"/>
              <p:nvPr/>
            </p:nvSpPr>
            <p:spPr>
              <a:xfrm>
                <a:off x="4688357" y="4301300"/>
                <a:ext cx="2150332" cy="9848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000" b="1" dirty="0">
                    <a:solidFill>
                      <a:schemeClr val="accent1">
                        <a:lumMod val="50000"/>
                      </a:schemeClr>
                    </a:solidFill>
                  </a:rPr>
                  <a:t>Model equation:</a:t>
                </a:r>
                <a:endParaRPr lang="en-IN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000" i="1" dirty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IN" sz="20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D677EC-5402-6DBB-1EF2-6FE4C23EC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57" y="4301300"/>
                <a:ext cx="2150332" cy="984885"/>
              </a:xfrm>
              <a:prstGeom prst="rect">
                <a:avLst/>
              </a:prstGeom>
              <a:blipFill>
                <a:blip r:embed="rId4"/>
                <a:stretch>
                  <a:fillRect t="-3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23E37F-3D77-DA78-3A97-FE6903D1B15F}"/>
                  </a:ext>
                </a:extLst>
              </p:cNvPr>
              <p:cNvSpPr txBox="1"/>
              <p:nvPr/>
            </p:nvSpPr>
            <p:spPr>
              <a:xfrm>
                <a:off x="7469713" y="3289199"/>
                <a:ext cx="4324293" cy="1526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chemeClr val="accent1">
                        <a:lumMod val="50000"/>
                      </a:schemeClr>
                    </a:solidFill>
                  </a:rPr>
                  <a:t>Mean Squared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I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Sup>
                            <m:sSub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23E37F-3D77-DA78-3A97-FE6903D1B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713" y="3289199"/>
                <a:ext cx="4324293" cy="1526187"/>
              </a:xfrm>
              <a:prstGeom prst="rect">
                <a:avLst/>
              </a:prstGeom>
              <a:blipFill>
                <a:blip r:embed="rId5"/>
                <a:stretch>
                  <a:fillRect t="-3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87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4C59-8230-2C92-1FAE-376B202F1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571603-825D-0D36-6058-0F49F48E5FA2}"/>
              </a:ext>
            </a:extLst>
          </p:cNvPr>
          <p:cNvSpPr txBox="1"/>
          <p:nvPr/>
        </p:nvSpPr>
        <p:spPr>
          <a:xfrm>
            <a:off x="1" y="7714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Machine Learning(ML) Models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BCA4C88-745B-2437-C1F5-B4F02D5E30E3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DF967C-E564-5275-947A-1AF8194727B7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0BE71B8-31FA-2737-A733-642A0F1ACAD3}"/>
              </a:ext>
            </a:extLst>
          </p:cNvPr>
          <p:cNvSpPr/>
          <p:nvPr/>
        </p:nvSpPr>
        <p:spPr>
          <a:xfrm>
            <a:off x="0" y="1"/>
            <a:ext cx="12192000" cy="19497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9980F2-A24D-35F3-3DCB-511D28066431}"/>
              </a:ext>
            </a:extLst>
          </p:cNvPr>
          <p:cNvSpPr txBox="1"/>
          <p:nvPr/>
        </p:nvSpPr>
        <p:spPr>
          <a:xfrm>
            <a:off x="130443" y="739066"/>
            <a:ext cx="5633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Decision Tree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Splits data into branches based on feature values forming a tree-like model for prediction.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Easy to visualize and understand; shows how decisions are made step-by-step.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Can overfit the data if the tree is too deep or not pruned properly.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6DF7D6-807A-507F-3AC1-959880CDA82D}"/>
                  </a:ext>
                </a:extLst>
              </p:cNvPr>
              <p:cNvSpPr txBox="1"/>
              <p:nvPr/>
            </p:nvSpPr>
            <p:spPr>
              <a:xfrm>
                <a:off x="302689" y="2992877"/>
                <a:ext cx="3900337" cy="202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Prediction at a leaf node</a:t>
                </a:r>
                <a:r>
                  <a:rPr lang="en-US" sz="2400" dirty="0"/>
                  <a:t>:</a:t>
                </a:r>
                <a:endParaRPr lang="el-GR" sz="2400" dirty="0"/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I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IN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86DF7D6-807A-507F-3AC1-959880CDA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89" y="2992877"/>
                <a:ext cx="3900337" cy="2028889"/>
              </a:xfrm>
              <a:prstGeom prst="rect">
                <a:avLst/>
              </a:prstGeom>
              <a:blipFill>
                <a:blip r:embed="rId2"/>
                <a:stretch>
                  <a:fillRect t="-24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B8B8E7B-2432-8E1B-09A9-EB7FA13AEEE6}"/>
              </a:ext>
            </a:extLst>
          </p:cNvPr>
          <p:cNvSpPr txBox="1"/>
          <p:nvPr/>
        </p:nvSpPr>
        <p:spPr>
          <a:xfrm>
            <a:off x="6866022" y="735125"/>
            <a:ext cx="5093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Random Forest: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 ensemble of multiple decision trees; predictions are averaged to improve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overfitting and improves generalization compared to a single tree.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Often provides higher R² and lower RMSE.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DAB533-E5B2-C6AF-F48B-B580809C8470}"/>
                  </a:ext>
                </a:extLst>
              </p:cNvPr>
              <p:cNvSpPr txBox="1"/>
              <p:nvPr/>
            </p:nvSpPr>
            <p:spPr>
              <a:xfrm>
                <a:off x="875398" y="4910826"/>
                <a:ext cx="2754921" cy="1517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2060"/>
                    </a:solidFill>
                  </a:rPr>
                  <a:t>Mean Square Error: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N" i="1" dirty="0" err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FDAB533-E5B2-C6AF-F48B-B580809C8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98" y="4910826"/>
                <a:ext cx="2754921" cy="1517595"/>
              </a:xfrm>
              <a:prstGeom prst="rect">
                <a:avLst/>
              </a:prstGeom>
              <a:blipFill>
                <a:blip r:embed="rId3"/>
                <a:stretch>
                  <a:fillRect l="-3540" t="-3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99C93C-0D25-D272-72E7-63A0A5441404}"/>
                  </a:ext>
                </a:extLst>
              </p:cNvPr>
              <p:cNvSpPr txBox="1"/>
              <p:nvPr/>
            </p:nvSpPr>
            <p:spPr>
              <a:xfrm>
                <a:off x="7116475" y="4667853"/>
                <a:ext cx="3452099" cy="19620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2060"/>
                    </a:solidFill>
                  </a:rPr>
                  <a:t>Mean Square Error:</a:t>
                </a:r>
              </a:p>
              <a:p>
                <a:endParaRPr lang="en-I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i="1" dirty="0" err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IN" i="1" dirty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p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I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i="1" dirty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i="1" dirty="0" err="1">
                                                  <a:latin typeface="Cambria Math" panose="02040503050406030204" pitchFamily="18" charset="0"/>
                                                </a:rPr>
                                                <m:t>𝑖𝑘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99C93C-0D25-D272-72E7-63A0A5441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475" y="4667853"/>
                <a:ext cx="3452099" cy="1962076"/>
              </a:xfrm>
              <a:prstGeom prst="rect">
                <a:avLst/>
              </a:prstGeom>
              <a:blipFill>
                <a:blip r:embed="rId4"/>
                <a:stretch>
                  <a:fillRect t="-24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6AC762-5261-BE43-2A68-1D620D3F587A}"/>
                  </a:ext>
                </a:extLst>
              </p:cNvPr>
              <p:cNvSpPr txBox="1"/>
              <p:nvPr/>
            </p:nvSpPr>
            <p:spPr>
              <a:xfrm>
                <a:off x="6295769" y="3047390"/>
                <a:ext cx="5093510" cy="15175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060"/>
                    </a:solidFill>
                  </a:rPr>
                  <a:t>Equation (average of tree predictions):</a:t>
                </a:r>
                <a:endParaRPr lang="en-IN" sz="24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I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en-IN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6AC762-5261-BE43-2A68-1D620D3F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69" y="3047390"/>
                <a:ext cx="5093510" cy="1517531"/>
              </a:xfrm>
              <a:prstGeom prst="rect">
                <a:avLst/>
              </a:prstGeom>
              <a:blipFill>
                <a:blip r:embed="rId5"/>
                <a:stretch>
                  <a:fillRect l="-1916" t="-3213" r="-9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39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20E5-3128-757E-6564-879FEDC7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475BD4F-DFA9-EBA5-3747-F1837675AFDF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5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7B2EBB-8A25-31BA-5724-8773B2DFDF9C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74448E31-CDF9-606D-815F-877878879170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F3F87-427A-E94C-DA4F-44959FB48DBE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1767B-0706-52A3-6061-4FAD7E029F5D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Machine Learning </a:t>
            </a:r>
            <a:r>
              <a:rPr lang="en-US" sz="3200" b="1" u="sng" dirty="0" err="1">
                <a:solidFill>
                  <a:srgbClr val="FF0000"/>
                </a:solidFill>
              </a:rPr>
              <a:t>PipeLine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5D9FA-4D30-1A19-C454-5B280A35F193}"/>
              </a:ext>
            </a:extLst>
          </p:cNvPr>
          <p:cNvSpPr txBox="1"/>
          <p:nvPr/>
        </p:nvSpPr>
        <p:spPr>
          <a:xfrm>
            <a:off x="212834" y="3737501"/>
            <a:ext cx="61222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Data Obtained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6DE024B8-8FE5-B927-FA56-23E5F4E71066}"/>
              </a:ext>
            </a:extLst>
          </p:cNvPr>
          <p:cNvSpPr/>
          <p:nvPr/>
        </p:nvSpPr>
        <p:spPr>
          <a:xfrm>
            <a:off x="289432" y="1942806"/>
            <a:ext cx="1576552" cy="79878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LAMMPS SIMULATION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070AC608-5A68-1A55-AF29-C86AE765258F}"/>
              </a:ext>
            </a:extLst>
          </p:cNvPr>
          <p:cNvSpPr/>
          <p:nvPr/>
        </p:nvSpPr>
        <p:spPr>
          <a:xfrm>
            <a:off x="2834703" y="1942806"/>
            <a:ext cx="1576552" cy="79878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Large Data Set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0470571E-3B2D-0BDA-3D27-8B855F5504C4}"/>
              </a:ext>
            </a:extLst>
          </p:cNvPr>
          <p:cNvSpPr/>
          <p:nvPr/>
        </p:nvSpPr>
        <p:spPr>
          <a:xfrm>
            <a:off x="7290034" y="1942806"/>
            <a:ext cx="1576552" cy="79878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Machine Learning Models</a:t>
            </a:r>
          </a:p>
        </p:txBody>
      </p: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07301331-FF94-2B23-A845-D3F4D2171A16}"/>
              </a:ext>
            </a:extLst>
          </p:cNvPr>
          <p:cNvSpPr/>
          <p:nvPr/>
        </p:nvSpPr>
        <p:spPr>
          <a:xfrm>
            <a:off x="10100441" y="3338107"/>
            <a:ext cx="1576552" cy="79878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Comparing Predicted Values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A1C5E8FF-5DEF-9E69-FB43-A9133F1E3770}"/>
              </a:ext>
            </a:extLst>
          </p:cNvPr>
          <p:cNvSpPr/>
          <p:nvPr/>
        </p:nvSpPr>
        <p:spPr>
          <a:xfrm>
            <a:off x="10100441" y="418624"/>
            <a:ext cx="1576552" cy="79878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Comparing Errors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CF9CA29B-C1D9-DD95-202D-096F2EAC0903}"/>
              </a:ext>
            </a:extLst>
          </p:cNvPr>
          <p:cNvSpPr/>
          <p:nvPr/>
        </p:nvSpPr>
        <p:spPr>
          <a:xfrm>
            <a:off x="5108028" y="942672"/>
            <a:ext cx="1466988" cy="798787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Training Data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2CDBC4D7-48A7-7267-3C15-01DC85949ABB}"/>
              </a:ext>
            </a:extLst>
          </p:cNvPr>
          <p:cNvSpPr/>
          <p:nvPr/>
        </p:nvSpPr>
        <p:spPr>
          <a:xfrm>
            <a:off x="5135345" y="3005591"/>
            <a:ext cx="1466988" cy="798787"/>
          </a:xfrm>
          <a:prstGeom prst="flowChartTermina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2060"/>
                </a:solidFill>
              </a:rPr>
              <a:t>Testing Data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2734E6-D6F8-C747-1739-75BDC8697C68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865984" y="2342200"/>
            <a:ext cx="9687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0DD9A03-9B7B-4D34-E06B-4830907795B6}"/>
              </a:ext>
            </a:extLst>
          </p:cNvPr>
          <p:cNvCxnSpPr>
            <a:stCxn id="15" idx="3"/>
            <a:endCxn id="20" idx="1"/>
          </p:cNvCxnSpPr>
          <p:nvPr/>
        </p:nvCxnSpPr>
        <p:spPr>
          <a:xfrm flipV="1">
            <a:off x="4411255" y="1342066"/>
            <a:ext cx="696773" cy="100013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FC8E675-D51F-ECB2-91EF-81701EC53A17}"/>
              </a:ext>
            </a:extLst>
          </p:cNvPr>
          <p:cNvCxnSpPr>
            <a:stCxn id="15" idx="3"/>
            <a:endCxn id="21" idx="1"/>
          </p:cNvCxnSpPr>
          <p:nvPr/>
        </p:nvCxnSpPr>
        <p:spPr>
          <a:xfrm>
            <a:off x="4411255" y="2342200"/>
            <a:ext cx="724090" cy="106278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B0180C5-60B0-52FE-638D-E69EB4E39FB2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>
            <a:off x="6575016" y="1342066"/>
            <a:ext cx="715018" cy="100013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6F63307-99BB-D4E8-2EA9-66D03F14D40F}"/>
              </a:ext>
            </a:extLst>
          </p:cNvPr>
          <p:cNvCxnSpPr>
            <a:stCxn id="21" idx="3"/>
            <a:endCxn id="16" idx="1"/>
          </p:cNvCxnSpPr>
          <p:nvPr/>
        </p:nvCxnSpPr>
        <p:spPr>
          <a:xfrm flipV="1">
            <a:off x="6602333" y="2342200"/>
            <a:ext cx="687701" cy="106278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62C96D1-6F07-B498-6766-37CD46046853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8866586" y="818018"/>
            <a:ext cx="1233855" cy="152418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1EF2507-FEB8-4654-D95D-19B3271187C2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8866586" y="2342200"/>
            <a:ext cx="1233855" cy="139530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F4C1DA57-6836-9C13-78A0-5C8C3E443A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370368"/>
              </p:ext>
            </p:extLst>
          </p:nvPr>
        </p:nvGraphicFramePr>
        <p:xfrm>
          <a:off x="2465759" y="4601959"/>
          <a:ext cx="7565282" cy="1489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886270" imgH="962102" progId="Excel.Sheet.12">
                  <p:embed/>
                </p:oleObj>
              </mc:Choice>
              <mc:Fallback>
                <p:oleObj name="Worksheet" r:id="rId3" imgW="4886270" imgH="96210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65759" y="4601959"/>
                        <a:ext cx="7565282" cy="1489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357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0DEE5-EAA0-67D9-3361-276022E45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E7545E3-1A6E-4B13-B273-939312CCB019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6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8F82D2-20A1-1122-A41F-6CB92D8517F3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39B19EBA-C021-D922-1A4A-F1C22F1336D9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A7EFD-D746-B052-7256-6A73C8FF98EC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A2D79-785D-539F-D817-12AB02543AC1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Correlation Heatmap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F96B5-49FB-CDEA-CB18-A4676D080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246" y="788475"/>
            <a:ext cx="6806954" cy="516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4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CF1B-5384-867B-46C8-F4C0F94E2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64CC511-A268-CE41-D2EC-FE1A4EF7A079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7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E5D95E-AC0E-4FE2-AE9A-BD45850E1FBE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CBF8C440-D0DD-D8C8-0AFE-35178B848406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EA8FCA-1FA7-0C6E-1402-1F5DF0B81B8B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D56E0-72DE-9BCC-5D69-A0CD694CEA65}"/>
              </a:ext>
            </a:extLst>
          </p:cNvPr>
          <p:cNvSpPr txBox="1"/>
          <p:nvPr/>
        </p:nvSpPr>
        <p:spPr>
          <a:xfrm>
            <a:off x="104827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Correlation Plots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9E84F-3176-1C1E-525B-A1BEA6F8C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06" y="818018"/>
            <a:ext cx="4493062" cy="3356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3E5257-E37F-A459-9D91-CC5C6074B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257" y="818019"/>
            <a:ext cx="4605203" cy="33563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B4CC3D2-B43C-7327-6CC7-D1E9A2D0D24A}"/>
              </a:ext>
            </a:extLst>
          </p:cNvPr>
          <p:cNvSpPr txBox="1"/>
          <p:nvPr/>
        </p:nvSpPr>
        <p:spPr>
          <a:xfrm>
            <a:off x="195263" y="3992685"/>
            <a:ext cx="1102978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</a:rPr>
              <a:t>Potential Energy vs Temperature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r>
              <a:rPr lang="en-US" sz="2000" dirty="0"/>
              <a:t>Potential energy increases non-linearly with temperature, showing a rapid rise at higher temperatures indicating strong thermal dependence.</a:t>
            </a:r>
          </a:p>
          <a:p>
            <a:endParaRPr lang="en-US" sz="2000" dirty="0"/>
          </a:p>
          <a:p>
            <a:r>
              <a:rPr lang="en-US" sz="2400" b="1" u="sng" dirty="0">
                <a:solidFill>
                  <a:srgbClr val="002060"/>
                </a:solidFill>
              </a:rPr>
              <a:t>Potential Energy vs Pressure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r>
              <a:rPr lang="en-US" sz="2000" dirty="0"/>
              <a:t>A nearly linear positive relationship is observed — as pressure increases, potential energy also increases, implying compression energy effects.</a:t>
            </a:r>
          </a:p>
        </p:txBody>
      </p:sp>
    </p:spTree>
    <p:extLst>
      <p:ext uri="{BB962C8B-B14F-4D97-AF65-F5344CB8AC3E}">
        <p14:creationId xmlns:p14="http://schemas.microsoft.com/office/powerpoint/2010/main" val="5970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E7C9-793E-59CA-B0F0-CCAD7A8AA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A91F170-59C0-A38A-61D8-3D6CCDE94D0C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21C9B0-38A2-A4B0-8BF2-1BFB0EECBACE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11F002BE-6B62-D15B-D656-462AED884EB4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19A6A-7648-DEF8-08F2-E56A833B5FC3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A2D7C-1FC1-D562-9B08-AB6E0C6E9DDA}"/>
              </a:ext>
            </a:extLst>
          </p:cNvPr>
          <p:cNvSpPr txBox="1"/>
          <p:nvPr/>
        </p:nvSpPr>
        <p:spPr>
          <a:xfrm>
            <a:off x="136357" y="233243"/>
            <a:ext cx="9572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Model Performance (before Hyper Tuning)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D106628-2108-74E4-0940-0AAB897CF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891269"/>
              </p:ext>
            </p:extLst>
          </p:nvPr>
        </p:nvGraphicFramePr>
        <p:xfrm>
          <a:off x="1656877" y="2095174"/>
          <a:ext cx="8867167" cy="278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057470" imgH="962102" progId="Excel.Sheet.12">
                  <p:embed/>
                </p:oleObj>
              </mc:Choice>
              <mc:Fallback>
                <p:oleObj name="Worksheet" r:id="rId3" imgW="3057470" imgH="96210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6877" y="2095174"/>
                        <a:ext cx="8867167" cy="27899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159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3668-5E69-FFF4-B092-5BD71B04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6085596-DEC0-3D27-9430-533012AF313F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9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880CDF-C9BC-4B47-DD38-3E3EF9FBBBD3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8135D9DD-F86E-0CB1-9E09-83B18F2644E5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DCF7D2-FF93-6805-A0F6-89D937C455DB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71F7F-D641-D4EB-BA38-133ABCFE5459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Hyper Tuning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243809-9627-058B-0D67-C1380114F505}"/>
              </a:ext>
            </a:extLst>
          </p:cNvPr>
          <p:cNvSpPr txBox="1"/>
          <p:nvPr/>
        </p:nvSpPr>
        <p:spPr>
          <a:xfrm>
            <a:off x="231228" y="604365"/>
            <a:ext cx="11824414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2400" b="1" dirty="0">
                <a:solidFill>
                  <a:srgbClr val="002060"/>
                </a:solidFill>
              </a:rPr>
              <a:t>Optimization of Parameters:</a:t>
            </a:r>
          </a:p>
          <a:p>
            <a:r>
              <a:rPr lang="en-IN" sz="2000" dirty="0"/>
              <a:t>Model parameters like alpha (Ridge) and </a:t>
            </a:r>
            <a:r>
              <a:rPr lang="en-IN" sz="2000" dirty="0" err="1"/>
              <a:t>max_depth</a:t>
            </a:r>
            <a:r>
              <a:rPr lang="en-IN" sz="2000" dirty="0"/>
              <a:t>, </a:t>
            </a:r>
            <a:r>
              <a:rPr lang="en-IN" sz="2000" dirty="0" err="1"/>
              <a:t>n_estimators</a:t>
            </a:r>
            <a:r>
              <a:rPr lang="en-IN" sz="2000" dirty="0"/>
              <a:t> (Decision Tree &amp; Random Forest) were tuned to achieve the best performance.</a:t>
            </a:r>
          </a:p>
          <a:p>
            <a:endParaRPr lang="en-IN" sz="2000" dirty="0"/>
          </a:p>
          <a:p>
            <a:r>
              <a:rPr lang="en-IN" sz="2400" b="1" dirty="0">
                <a:solidFill>
                  <a:srgbClr val="002060"/>
                </a:solidFill>
              </a:rPr>
              <a:t>Improved Accuracy:</a:t>
            </a:r>
          </a:p>
          <a:p>
            <a:r>
              <a:rPr lang="en-IN" sz="2000" dirty="0"/>
              <a:t>Hyperparameter tuning significantly improved prediction accuracy — especially for Random Forest, which achieved the lowest RMSE (≈16.08) and highest R² (≈0.9999).</a:t>
            </a:r>
          </a:p>
          <a:p>
            <a:endParaRPr lang="en-IN" sz="2000" dirty="0"/>
          </a:p>
          <a:p>
            <a:r>
              <a:rPr lang="en-IN" sz="2400" b="1" dirty="0">
                <a:solidFill>
                  <a:srgbClr val="002060"/>
                </a:solidFill>
              </a:rPr>
              <a:t>Model Robustness:</a:t>
            </a:r>
          </a:p>
          <a:p>
            <a:r>
              <a:rPr lang="en-IN" sz="2000" dirty="0"/>
              <a:t>Proper tuning helped control overfitting in complex models while maintaining high generalization capability.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431F11A-BEC7-759C-AC81-6E19CA9BA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8483301"/>
              </p:ext>
            </p:extLst>
          </p:nvPr>
        </p:nvGraphicFramePr>
        <p:xfrm>
          <a:off x="56057" y="4274019"/>
          <a:ext cx="12068807" cy="2113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95870" imgH="962102" progId="Excel.Sheet.12">
                  <p:embed/>
                </p:oleObj>
              </mc:Choice>
              <mc:Fallback>
                <p:oleObj name="Worksheet" r:id="rId3" imgW="5495870" imgH="962102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D106628-2108-74E4-0940-0AAB897CFD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57" y="4274019"/>
                        <a:ext cx="12068807" cy="21136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41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35C8B-7043-BA69-A59A-EF735DE0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4E82ECA-4EAF-0079-DDC1-96A303E084A8}"/>
              </a:ext>
            </a:extLst>
          </p:cNvPr>
          <p:cNvSpPr txBox="1">
            <a:spLocks/>
          </p:cNvSpPr>
          <p:nvPr/>
        </p:nvSpPr>
        <p:spPr>
          <a:xfrm>
            <a:off x="11828460" y="6447367"/>
            <a:ext cx="336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800" b="1" dirty="0">
              <a:solidFill>
                <a:srgbClr val="6914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E5757F-C906-0536-5C2C-5EF27B83EC53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66166F95-BB60-2F3E-D174-73D2131484F7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87AD79-2C3A-737E-50A2-FD2B9A31C2F6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56BA1-5AEC-C385-9DD3-D10EFCE3BDB5}"/>
              </a:ext>
            </a:extLst>
          </p:cNvPr>
          <p:cNvSpPr txBox="1"/>
          <p:nvPr/>
        </p:nvSpPr>
        <p:spPr>
          <a:xfrm>
            <a:off x="136357" y="233243"/>
            <a:ext cx="101172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Test Data Results (After Hyper Tuning):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64BF5-7F2D-633E-2B1E-5B7283129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" y="818018"/>
            <a:ext cx="5403770" cy="3779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139634-8A85-D39D-04E1-35AA9EC46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142" y="818018"/>
            <a:ext cx="5196432" cy="37771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9F896-BB78-9F5A-7581-1A3A9CD7616C}"/>
                  </a:ext>
                </a:extLst>
              </p:cNvPr>
              <p:cNvSpPr txBox="1"/>
              <p:nvPr/>
            </p:nvSpPr>
            <p:spPr>
              <a:xfrm>
                <a:off x="136359" y="4361794"/>
                <a:ext cx="11692102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060"/>
                    </a:solidFill>
                  </a:rPr>
                  <a:t>Highest Accuracy:</a:t>
                </a:r>
              </a:p>
              <a:p>
                <a:r>
                  <a:rPr lang="en-US" sz="2000" dirty="0"/>
                  <a:t>The Random Forest model achieved the best performance with the highest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score (~0.99995), indicating near-perfect prediction accuracy.</a:t>
                </a:r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Performance Trend:</a:t>
                </a:r>
              </a:p>
              <a:p>
                <a:r>
                  <a:rPr lang="en-US" sz="2000" dirty="0"/>
                  <a:t>Linear and Ridge Regression performed well but showed higher RMSEs, while Decision Tree and Random Forest captured non-linear patterns more effectively.</a:t>
                </a:r>
                <a:endParaRPr lang="en-IN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89F896-BB78-9F5A-7581-1A3A9CD76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9" y="4361794"/>
                <a:ext cx="11692102" cy="2062103"/>
              </a:xfrm>
              <a:prstGeom prst="rect">
                <a:avLst/>
              </a:prstGeom>
              <a:blipFill>
                <a:blip r:embed="rId5"/>
                <a:stretch>
                  <a:fillRect l="-782" t="-2367" r="-626" b="-4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DF9B8A-1DFD-531C-6A2D-DA82D7735C98}"/>
              </a:ext>
            </a:extLst>
          </p:cNvPr>
          <p:cNvSpPr txBox="1">
            <a:spLocks/>
          </p:cNvSpPr>
          <p:nvPr/>
        </p:nvSpPr>
        <p:spPr>
          <a:xfrm>
            <a:off x="11620072" y="6460278"/>
            <a:ext cx="5117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883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7AAD-4EDB-E7E0-AC79-0338296A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79602A0-82B4-9F65-995A-863E0FAFE607}"/>
              </a:ext>
            </a:extLst>
          </p:cNvPr>
          <p:cNvSpPr txBox="1">
            <a:spLocks/>
          </p:cNvSpPr>
          <p:nvPr/>
        </p:nvSpPr>
        <p:spPr>
          <a:xfrm>
            <a:off x="11702265" y="6447367"/>
            <a:ext cx="4627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11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E01B19-9D28-D0D7-D800-FB44B8EED336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264D783-654E-4222-7E4E-77AED8247CD3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B00D6-D3AD-26E5-65C2-B518762C25B3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Radar Chart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F6074-6269-61F7-3F6D-01BE51B94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695" y="852128"/>
            <a:ext cx="5973009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273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1F44BD-D4D7-7FF2-BEDD-1C4ABD5C0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3463951"/>
            <a:ext cx="3369410" cy="33940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C19AEC-B14B-CFDD-D5D8-845E27D0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766C8-FE37-C242-AED9-A550D3C7D878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54BB9-81FE-E60A-151A-908E10AA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02" y="457139"/>
            <a:ext cx="3406482" cy="3394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02CB96-31F9-571F-7BF5-40B5339E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645" y="518738"/>
            <a:ext cx="3369410" cy="3332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23BD37-8C10-AE25-807F-914FCDAF3755}"/>
              </a:ext>
            </a:extLst>
          </p:cNvPr>
          <p:cNvSpPr txBox="1"/>
          <p:nvPr/>
        </p:nvSpPr>
        <p:spPr>
          <a:xfrm>
            <a:off x="0" y="-53000"/>
            <a:ext cx="101172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Prediction </a:t>
            </a:r>
            <a:r>
              <a:rPr lang="en-US" sz="3200" b="1" u="sng" dirty="0" err="1">
                <a:solidFill>
                  <a:srgbClr val="FF0000"/>
                </a:solidFill>
              </a:rPr>
              <a:t>comparision</a:t>
            </a:r>
            <a:r>
              <a:rPr lang="en-US" sz="3200" b="1" u="sng" dirty="0">
                <a:solidFill>
                  <a:srgbClr val="FF0000"/>
                </a:solidFill>
              </a:rPr>
              <a:t> of different models: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D7F25-D6C5-F764-C146-DC735AE11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040" y="3677456"/>
            <a:ext cx="3168872" cy="318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7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8E19-2110-D251-EADC-11AC11A4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CA12492-70C2-252F-92E4-26CC65337578}"/>
              </a:ext>
            </a:extLst>
          </p:cNvPr>
          <p:cNvSpPr txBox="1">
            <a:spLocks/>
          </p:cNvSpPr>
          <p:nvPr/>
        </p:nvSpPr>
        <p:spPr>
          <a:xfrm>
            <a:off x="11735161" y="6447367"/>
            <a:ext cx="429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12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2C27F8-A208-F319-BCB7-7C9671124725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D82ED126-59DD-505E-1C8C-9910FA67AE84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96DEF-E961-D329-C309-E84F96519D4A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FEA2E-32AE-BE2F-3686-F70526C5DCD9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Actual VS Predicted Plot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A9B3C-E8B7-8B62-07C9-AD7C076FC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838" y="871180"/>
            <a:ext cx="5182323" cy="5115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9DF6B0-02AC-F6A1-F767-A911A1FCFAF9}"/>
              </a:ext>
            </a:extLst>
          </p:cNvPr>
          <p:cNvSpPr txBox="1"/>
          <p:nvPr/>
        </p:nvSpPr>
        <p:spPr>
          <a:xfrm>
            <a:off x="262759" y="936090"/>
            <a:ext cx="65689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Perfect Linear Fit:</a:t>
            </a:r>
          </a:p>
          <a:p>
            <a:r>
              <a:rPr lang="en-US" sz="2000" dirty="0"/>
              <a:t>The data points closely align with the red dashed line (y = x), showing excellent agreement between predicted and actual values.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rgbClr val="002060"/>
                </a:solidFill>
              </a:rPr>
              <a:t>High Prediction Accuracy:</a:t>
            </a:r>
          </a:p>
          <a:p>
            <a:r>
              <a:rPr lang="en-US" sz="2000" dirty="0"/>
              <a:t>Minimal deviation indicates the model predicts Potential Energy (</a:t>
            </a:r>
            <a:r>
              <a:rPr lang="en-US" sz="2000" dirty="0" err="1"/>
              <a:t>PotEng</a:t>
            </a:r>
            <a:r>
              <a:rPr lang="en-US" sz="2000" dirty="0"/>
              <a:t>) with very high accuracy.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rgbClr val="002060"/>
                </a:solidFill>
              </a:rPr>
              <a:t>Model Reliability:</a:t>
            </a:r>
          </a:p>
          <a:p>
            <a:r>
              <a:rPr lang="en-US" sz="2000" dirty="0"/>
              <a:t>The tight clustering along the diagonal confirms consistent model performance across all data points.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rgbClr val="002060"/>
                </a:solidFill>
              </a:rPr>
              <a:t>Low Error Distribution:</a:t>
            </a:r>
          </a:p>
          <a:p>
            <a:r>
              <a:rPr lang="en-US" sz="2000" dirty="0"/>
              <a:t>The low spread of points from the ideal line corresponds to a low RMSE (≈16), validating the model’s robustness.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042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E73F8-D53B-96DF-CA98-ABF19A6FD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93C388A-AE0D-0FDF-9B41-61234B609E21}"/>
              </a:ext>
            </a:extLst>
          </p:cNvPr>
          <p:cNvSpPr txBox="1">
            <a:spLocks/>
          </p:cNvSpPr>
          <p:nvPr/>
        </p:nvSpPr>
        <p:spPr>
          <a:xfrm>
            <a:off x="11703561" y="6447367"/>
            <a:ext cx="4614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dirty="0">
                <a:solidFill>
                  <a:srgbClr val="691450"/>
                </a:solidFill>
              </a:rPr>
              <a:t>13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9CEAA3B-86BC-C4E8-201F-D0542445A16D}"/>
              </a:ext>
            </a:extLst>
          </p:cNvPr>
          <p:cNvCxnSpPr>
            <a:cxnSpLocks/>
          </p:cNvCxnSpPr>
          <p:nvPr/>
        </p:nvCxnSpPr>
        <p:spPr>
          <a:xfrm>
            <a:off x="-11077" y="6409475"/>
            <a:ext cx="12203077" cy="0"/>
          </a:xfrm>
          <a:prstGeom prst="line">
            <a:avLst/>
          </a:prstGeom>
          <a:ln w="38100">
            <a:solidFill>
              <a:srgbClr val="6914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8">
            <a:extLst>
              <a:ext uri="{FF2B5EF4-FFF2-40B4-BE49-F238E27FC236}">
                <a16:creationId xmlns:a16="http://schemas.microsoft.com/office/drawing/2014/main" id="{4EC0B8AA-5F86-4AD6-E3D8-F2C2582B032D}"/>
              </a:ext>
            </a:extLst>
          </p:cNvPr>
          <p:cNvSpPr/>
          <p:nvPr/>
        </p:nvSpPr>
        <p:spPr>
          <a:xfrm>
            <a:off x="0" y="1088149"/>
            <a:ext cx="2722975" cy="669414"/>
          </a:xfrm>
          <a:custGeom>
            <a:avLst/>
            <a:gdLst>
              <a:gd name="connsiteX0" fmla="*/ 0 w 4070290"/>
              <a:gd name="connsiteY0" fmla="*/ 0 h 1200329"/>
              <a:gd name="connsiteX1" fmla="*/ 4070290 w 4070290"/>
              <a:gd name="connsiteY1" fmla="*/ 0 h 1200329"/>
              <a:gd name="connsiteX2" fmla="*/ 4070290 w 4070290"/>
              <a:gd name="connsiteY2" fmla="*/ 1200329 h 1200329"/>
              <a:gd name="connsiteX3" fmla="*/ 0 w 4070290"/>
              <a:gd name="connsiteY3" fmla="*/ 1200329 h 1200329"/>
              <a:gd name="connsiteX4" fmla="*/ 0 w 4070290"/>
              <a:gd name="connsiteY4" fmla="*/ 0 h 1200329"/>
              <a:gd name="connsiteX0" fmla="*/ 13647 w 4083937"/>
              <a:gd name="connsiteY0" fmla="*/ 0 h 1200329"/>
              <a:gd name="connsiteX1" fmla="*/ 4083937 w 4083937"/>
              <a:gd name="connsiteY1" fmla="*/ 0 h 1200329"/>
              <a:gd name="connsiteX2" fmla="*/ 4083937 w 4083937"/>
              <a:gd name="connsiteY2" fmla="*/ 1200329 h 1200329"/>
              <a:gd name="connsiteX3" fmla="*/ 0 w 4083937"/>
              <a:gd name="connsiteY3" fmla="*/ 954670 h 1200329"/>
              <a:gd name="connsiteX4" fmla="*/ 13647 w 4083937"/>
              <a:gd name="connsiteY4" fmla="*/ 0 h 1200329"/>
              <a:gd name="connsiteX0" fmla="*/ 13647 w 4097585"/>
              <a:gd name="connsiteY0" fmla="*/ 0 h 954670"/>
              <a:gd name="connsiteX1" fmla="*/ 4083937 w 4097585"/>
              <a:gd name="connsiteY1" fmla="*/ 0 h 954670"/>
              <a:gd name="connsiteX2" fmla="*/ 4097585 w 4097585"/>
              <a:gd name="connsiteY2" fmla="*/ 941021 h 954670"/>
              <a:gd name="connsiteX3" fmla="*/ 0 w 4097585"/>
              <a:gd name="connsiteY3" fmla="*/ 954670 h 954670"/>
              <a:gd name="connsiteX4" fmla="*/ 13647 w 4097585"/>
              <a:gd name="connsiteY4" fmla="*/ 0 h 954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7585" h="954670">
                <a:moveTo>
                  <a:pt x="13647" y="0"/>
                </a:moveTo>
                <a:lnTo>
                  <a:pt x="4083937" y="0"/>
                </a:lnTo>
                <a:lnTo>
                  <a:pt x="4097585" y="941021"/>
                </a:lnTo>
                <a:lnTo>
                  <a:pt x="0" y="954670"/>
                </a:lnTo>
                <a:lnTo>
                  <a:pt x="13647" y="0"/>
                </a:lnTo>
                <a:close/>
              </a:path>
            </a:pathLst>
          </a:cu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3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C70EE-F42F-E95A-62BE-26928CC64F4A}"/>
              </a:ext>
            </a:extLst>
          </p:cNvPr>
          <p:cNvSpPr/>
          <p:nvPr/>
        </p:nvSpPr>
        <p:spPr>
          <a:xfrm>
            <a:off x="0" y="1"/>
            <a:ext cx="12192000" cy="233242"/>
          </a:xfrm>
          <a:prstGeom prst="rect">
            <a:avLst/>
          </a:prstGeom>
          <a:solidFill>
            <a:srgbClr val="6914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E36D6-9EC1-7F29-7D7A-5F74F05D5B52}"/>
              </a:ext>
            </a:extLst>
          </p:cNvPr>
          <p:cNvSpPr txBox="1"/>
          <p:nvPr/>
        </p:nvSpPr>
        <p:spPr>
          <a:xfrm>
            <a:off x="136358" y="233243"/>
            <a:ext cx="61120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Conclusion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6C96C-59EA-3AA9-2F25-6FA942EDEA05}"/>
                  </a:ext>
                </a:extLst>
              </p:cNvPr>
              <p:cNvSpPr txBox="1"/>
              <p:nvPr/>
            </p:nvSpPr>
            <p:spPr>
              <a:xfrm>
                <a:off x="136358" y="914837"/>
                <a:ext cx="11567203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060"/>
                    </a:solidFill>
                  </a:rPr>
                  <a:t>Successful ML Integration:</a:t>
                </a:r>
              </a:p>
              <a:p>
                <a:r>
                  <a:rPr lang="en-US" sz="2000" dirty="0"/>
                  <a:t>Machine learning models were effectively trained on LAMMPS simulation data to predict Potential Energy (</a:t>
                </a:r>
                <a:r>
                  <a:rPr lang="en-US" sz="2000" dirty="0" err="1"/>
                  <a:t>PotEng</a:t>
                </a:r>
                <a:r>
                  <a:rPr lang="en-US" sz="2000" dirty="0"/>
                  <a:t>) with high precision.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High Predictive Accuracy:</a:t>
                </a:r>
              </a:p>
              <a:p>
                <a:r>
                  <a:rPr lang="en-US" sz="2000" dirty="0"/>
                  <a:t>All models achieved strong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&gt;0.99, with Random Forest delivering the best performance and lowest RMSE (~16).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Physical Insight:</a:t>
                </a:r>
              </a:p>
              <a:p>
                <a:r>
                  <a:rPr lang="en-US" sz="2000" dirty="0"/>
                  <a:t>Potential Energy showed strong correlation with Temperature and Pressure, revealing consistent thermodynamic relationships.</a:t>
                </a:r>
              </a:p>
              <a:p>
                <a:endParaRPr lang="en-US" sz="2000" dirty="0"/>
              </a:p>
              <a:p>
                <a:r>
                  <a:rPr lang="en-US" sz="2400" b="1" dirty="0">
                    <a:solidFill>
                      <a:srgbClr val="002060"/>
                    </a:solidFill>
                  </a:rPr>
                  <a:t>Overall Outcome:</a:t>
                </a:r>
              </a:p>
              <a:p>
                <a:r>
                  <a:rPr lang="en-US" sz="2000" dirty="0"/>
                  <a:t>The study demonstrates that ML models — especially Random Forest — can accurately replicate molecular dynamics results, reducing computational cost for future simulations.</a:t>
                </a:r>
                <a:endParaRPr lang="en-IN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6C96C-59EA-3AA9-2F25-6FA942EDE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8" y="914837"/>
                <a:ext cx="11567203" cy="4955203"/>
              </a:xfrm>
              <a:prstGeom prst="rect">
                <a:avLst/>
              </a:prstGeom>
              <a:blipFill>
                <a:blip r:embed="rId3"/>
                <a:stretch>
                  <a:fillRect l="-790" t="-984" b="-1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70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21724</TotalTime>
  <Words>1003</Words>
  <Application>Microsoft Office PowerPoint</Application>
  <PresentationFormat>Widescreen</PresentationFormat>
  <Paragraphs>173</Paragraphs>
  <Slides>15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Microsoft Excel Worksheet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Vijay Choyal</dc:creator>
  <cp:lastModifiedBy>Sujan Kumar</cp:lastModifiedBy>
  <cp:revision>28</cp:revision>
  <dcterms:created xsi:type="dcterms:W3CDTF">2023-04-12T16:28:37Z</dcterms:created>
  <dcterms:modified xsi:type="dcterms:W3CDTF">2025-11-18T14:14:22Z</dcterms:modified>
</cp:coreProperties>
</file>